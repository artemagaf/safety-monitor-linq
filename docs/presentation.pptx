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7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9177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Чекпоинт 3, 15 минут с трекером и экспертами. Открываем так: мы решаем кейс LinQ — сервис, который смотрит камеры цеха и сразу сообщает мастеру о нарушении охраны труда. Инференс модели выполняется на ускорителе LinQ, как требует кейс.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Проблема: камеры уже висят, но их никто не смотрит в реальном времени. Справа — примеры нарушений прямо из постановки кейса LinQ. Ключевое требование: инференс на отечественных ускорителях LinQ.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шага. Камера, распознавание на LinQ, правила зоны, тревога. Важно: одно нарушение даёт одну тревогу, а не поток уведомлений на каждый кадр — это делает трекинг. Ложные отметки оператора становятся данными для дообучения.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Конвейер. Жёлтый блок — то, что крутится на LinQ: все свёрточные слои YOLO11n в INT8. На CPU остаются лёгкие операции: подготовка кадра, хвост детекционной головы с NMS, трекинг и правила. Характеристики чипа — с сайта производителя.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 — типы нарушений, которые уже заведены в прототипе. Важное отличие от «просто детектора касок»: правило привязано к зоне. Перчатки — нарушение у патрона токарного станка, но обязательны у пульта лазера.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переключаемся на живой макет и проходим: тревога «перчатки у патрона» → подтвердить → запись в журнале → статистика → рисуем новую зону на кадре. Камера склада в макете специально показана офлайн — система переживает обрыв потока.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Честно говорим: это демонстрационные цифры из макета. Они показывают, какие метрики система считает. Реальные значения получим после прогона на тестовом видео и на стенде LinQ.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Строка CPU — реальный замер. Строку LinQ заполним после прогона benchmark.py на стенде с онлайн-доступом к ускорителю. 9,8 мс в шапке макета — пример значения, не замер. Если замер будет готов к чекпоинту — вписываем цифры вместо [__].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главный слайд чекпоинта: что сделано, что в работе, что сдаём к дедлайну. Перед показом сверить с фактическим состоянием репозитория. Защита завтра — 3 минуты выступления и 2 минуты вопросов.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Эксперты и трекеры оценивают нас на чек-поинтах по этим же критериям. Покажем, что закрыты все шесть, и спросим, где они видят слабое место.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74" y="1127682"/>
            <a:ext cx="10566425" cy="48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71A1E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74" y="1912523"/>
            <a:ext cx="10566426" cy="4132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71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74" y="1127682"/>
            <a:ext cx="10566425" cy="48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71A1E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74" y="1912523"/>
            <a:ext cx="10566426" cy="4132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71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973" cy="177742"/>
          </a:xfrm>
          <a:prstGeom prst="rect">
            <a:avLst/>
          </a:prstGeom>
          <a:gradFill rotWithShape="1">
            <a:gsLst>
              <a:gs pos="0">
                <a:srgbClr val="F2B705"/>
              </a:gs>
              <a:gs pos="50000">
                <a:srgbClr val="F2B705"/>
              </a:gs>
              <a:gs pos="50000">
                <a:srgbClr val="121519"/>
              </a:gs>
              <a:gs pos="100000">
                <a:srgbClr val="121519"/>
              </a:gs>
            </a:gsLst>
            <a:lin ang="2700000" scaled="0"/>
          </a:gradFill>
          <a:ln/>
        </p:spPr>
      </p:sp>
      <p:sp>
        <p:nvSpPr>
          <p:cNvPr id="3" name="Text 1"/>
          <p:cNvSpPr/>
          <p:nvPr/>
        </p:nvSpPr>
        <p:spPr>
          <a:xfrm>
            <a:off x="812774" y="812774"/>
            <a:ext cx="10883418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kern="0" spc="100" dirty="0">
                <a:solidFill>
                  <a:srgbClr val="F2B705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ОТКРОЙ#МОСПРОМ 2026 · КЕЙС </a:t>
            </a:r>
            <a:r>
              <a:rPr lang="en-US" sz="1300" kern="0" spc="100" dirty="0" smtClean="0">
                <a:solidFill>
                  <a:srgbClr val="F2B705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LINQ</a:t>
            </a:r>
            <a:endParaRPr lang="en-US" sz="13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774" y="2387673"/>
            <a:ext cx="10883418" cy="1092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00"/>
              </a:lnSpc>
              <a:buNone/>
            </a:pPr>
            <a:r>
              <a:rPr lang="en-US" sz="8400" b="1" i="0" dirty="0">
                <a:solidFill>
                  <a:srgbClr val="F4F6F8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Пост контроля ОТ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812774" y="3708458"/>
            <a:ext cx="8502628" cy="751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C3CA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Видеоаналитика нарушений охраны труда в реальном времени. Нейросеть работает на российском ускорителе LinQ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774" y="5778543"/>
            <a:ext cx="2330633" cy="292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7EA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Команда «мгокчане»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4" y="812774"/>
            <a:ext cx="10883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A540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ПРОБЛЕМА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74" y="1127682"/>
            <a:ext cx="9810719" cy="985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dirty="0">
                <a:solidFill>
                  <a:srgbClr val="171A1E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Камеры в цехе есть, но нарушение замечают уже после инцидента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774" y="2443322"/>
            <a:ext cx="5284756" cy="299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1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Мастер один на смену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774" y="2768446"/>
            <a:ext cx="5284756" cy="523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2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Он не может одновременно следить за станками, людьми и несколькими видеопотоками.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774" y="3469415"/>
            <a:ext cx="5284756" cy="299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1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Архив смотрят задним числом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774" y="3794540"/>
            <a:ext cx="5284756" cy="523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2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Запись поднимают, когда травма уже случилась. Предупредить её архив не помогает.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774" y="4495509"/>
            <a:ext cx="5284756" cy="299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1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Задача кейса LinQ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2774" y="4820634"/>
            <a:ext cx="5284756" cy="523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2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Анализировать видео в реальном времени и сразу сообщать о нарушении. Инференс — на ускорителях LinQ.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51543" y="2446497"/>
            <a:ext cx="2482838" cy="1070610"/>
          </a:xfrm>
          <a:prstGeom prst="roundRect">
            <a:avLst>
              <a:gd name="adj" fmla="val 4448"/>
            </a:avLst>
          </a:prstGeom>
          <a:solidFill>
            <a:srgbClr val="FBFCFD"/>
          </a:solidFill>
          <a:ln w="6350">
            <a:solidFill>
              <a:srgbClr val="D5DAE0"/>
            </a:solidFill>
            <a:prstDash val="solid"/>
          </a:ln>
        </p:spPr>
        <p:txBody>
          <a:bodyPr wrap="square" lIns="190689" tIns="190713" rIns="128482" bIns="190713" rtlCol="0" anchor="ctr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71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надел каску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93113" y="2446497"/>
            <a:ext cx="2482911" cy="1070610"/>
          </a:xfrm>
          <a:prstGeom prst="roundRect">
            <a:avLst>
              <a:gd name="adj" fmla="val 4448"/>
            </a:avLst>
          </a:prstGeom>
          <a:solidFill>
            <a:srgbClr val="FBFCFD"/>
          </a:solidFill>
          <a:ln w="6350">
            <a:solidFill>
              <a:srgbClr val="D5DAE0"/>
            </a:solidFill>
            <a:prstDash val="solid"/>
          </a:ln>
        </p:spPr>
        <p:txBody>
          <a:bodyPr wrap="square" lIns="190689" tIns="190713" rIns="128480" bIns="190713" rtlCol="0" anchor="ctr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71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Снял респиратор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51543" y="3675838"/>
            <a:ext cx="2482838" cy="1639414"/>
          </a:xfrm>
          <a:prstGeom prst="roundRect">
            <a:avLst>
              <a:gd name="adj" fmla="val 2905"/>
            </a:avLst>
          </a:prstGeom>
          <a:solidFill>
            <a:srgbClr val="FBFCFD"/>
          </a:solidFill>
          <a:ln w="6350">
            <a:solidFill>
              <a:srgbClr val="D5DAE0"/>
            </a:solidFill>
            <a:prstDash val="solid"/>
          </a:ln>
        </p:spPr>
        <p:txBody>
          <a:bodyPr wrap="square" lIns="190689" tIns="190713" rIns="128482" bIns="190713" rtlCol="0" anchor="ctr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71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Зашёл в опасную зону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3113" y="3675838"/>
            <a:ext cx="2482911" cy="1639414"/>
          </a:xfrm>
          <a:prstGeom prst="roundRect">
            <a:avLst>
              <a:gd name="adj" fmla="val 2905"/>
            </a:avLst>
          </a:prstGeom>
          <a:solidFill>
            <a:srgbClr val="FBFCFD"/>
          </a:solidFill>
          <a:ln w="6350">
            <a:solidFill>
              <a:srgbClr val="D5DAE0"/>
            </a:solidFill>
            <a:prstDash val="solid"/>
          </a:ln>
        </p:spPr>
        <p:txBody>
          <a:bodyPr wrap="square" lIns="190689" tIns="190713" rIns="128480" bIns="190713" rtlCol="0" anchor="ctr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71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Закурил рядом с горючими материалами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4" y="812774"/>
            <a:ext cx="10883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A540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РЕШЕНИЕ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74" y="1127682"/>
            <a:ext cx="10883418" cy="985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dirty="0">
                <a:solidFill>
                  <a:srgbClr val="171A1E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От кадра до тревоги мастеру — около 1,6 секунды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49" y="2497291"/>
            <a:ext cx="2520952" cy="2461390"/>
          </a:xfrm>
          <a:prstGeom prst="roundRect">
            <a:avLst>
              <a:gd name="adj" fmla="val 1935"/>
            </a:avLst>
          </a:prstGeom>
          <a:solidFill>
            <a:srgbClr val="FBFCFD"/>
          </a:solidFill>
          <a:ln w="6350">
            <a:solidFill>
              <a:srgbClr val="D5DA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381" y="2752722"/>
            <a:ext cx="2070391" cy="45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7A540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71381" y="3306383"/>
            <a:ext cx="2070391" cy="299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1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Камера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71381" y="3707661"/>
            <a:ext cx="2070391" cy="772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2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Обычные IP-камеры цеха по RTSP, 10 кадров в секунду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92457" y="2494116"/>
            <a:ext cx="2527302" cy="2467740"/>
          </a:xfrm>
          <a:prstGeom prst="roundRect">
            <a:avLst>
              <a:gd name="adj" fmla="val 2059"/>
            </a:avLst>
          </a:prstGeom>
          <a:solidFill>
            <a:srgbClr val="171A1E"/>
          </a:solidFill>
          <a:ln/>
        </p:spPr>
      </p:sp>
      <p:sp>
        <p:nvSpPr>
          <p:cNvPr id="9" name="Text 7"/>
          <p:cNvSpPr/>
          <p:nvPr/>
        </p:nvSpPr>
        <p:spPr>
          <a:xfrm>
            <a:off x="3746427" y="2748085"/>
            <a:ext cx="2079944" cy="45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2B705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746427" y="3301746"/>
            <a:ext cx="2079944" cy="299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4F6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LinQ распознаёт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46427" y="3703024"/>
            <a:ext cx="2079944" cy="772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3CA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YOLO11n в INT8 находит людей, СИЗ и опасные предметы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5316" y="2497291"/>
            <a:ext cx="2520952" cy="2461390"/>
          </a:xfrm>
          <a:prstGeom prst="roundRect">
            <a:avLst>
              <a:gd name="adj" fmla="val 1935"/>
            </a:avLst>
          </a:prstGeom>
          <a:solidFill>
            <a:srgbClr val="FBFCFD"/>
          </a:solidFill>
          <a:ln w="6350">
            <a:solidFill>
              <a:srgbClr val="D5DA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0748" y="2752722"/>
            <a:ext cx="2070391" cy="45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7A540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30748" y="3306383"/>
            <a:ext cx="2070391" cy="299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1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Правила зоны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30748" y="3707661"/>
            <a:ext cx="2070391" cy="1020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2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Трекинг человека, обязательные и запрещённые СИЗ для каждой зоны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855000" y="2497291"/>
            <a:ext cx="2521024" cy="2461390"/>
          </a:xfrm>
          <a:prstGeom prst="roundRect">
            <a:avLst>
              <a:gd name="adj" fmla="val 1935"/>
            </a:avLst>
          </a:prstGeom>
          <a:solidFill>
            <a:srgbClr val="FBFCFD"/>
          </a:solidFill>
          <a:ln w="6350">
            <a:solidFill>
              <a:srgbClr val="D5DA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10432" y="2752722"/>
            <a:ext cx="2070466" cy="452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7A540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10432" y="3306383"/>
            <a:ext cx="2070466" cy="299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71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Тревога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10432" y="3707661"/>
            <a:ext cx="2070466" cy="1020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2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Одно нарушение — одна тревога, клип 5 с, подтверждение оператором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2774" y="5368207"/>
            <a:ext cx="9810719" cy="309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71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Ложное срабатывание оператор отмечает одной кнопкой — кадр уходит в дообучение модели.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5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4" y="812774"/>
            <a:ext cx="10883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F2B705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ТЕХНОЛОГИЯ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74" y="1127680"/>
            <a:ext cx="10883418" cy="985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dirty="0">
                <a:solidFill>
                  <a:srgbClr val="F4F6F8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Нейросеть целиком работает на ускорителе LinQ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49" y="2606920"/>
            <a:ext cx="1702381" cy="1074523"/>
          </a:xfrm>
          <a:prstGeom prst="roundRect">
            <a:avLst>
              <a:gd name="adj" fmla="val 4432"/>
            </a:avLst>
          </a:prstGeom>
          <a:solidFill>
            <a:srgbClr val="20252B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154" y="2786125"/>
            <a:ext cx="1394772" cy="25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7EA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Кадр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5154" y="3090816"/>
            <a:ext cx="1394772" cy="43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A9B2B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1280×720, RTSP, 10 к/с</a:t>
            </a:r>
            <a:endParaRPr lang="en-US" sz="1200" dirty="0"/>
          </a:p>
        </p:txBody>
      </p:sp>
      <p:pic>
        <p:nvPicPr>
          <p:cNvPr id="7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23093" y="3067991"/>
            <a:ext cx="304763" cy="15238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032619" y="2709740"/>
            <a:ext cx="1702454" cy="868811"/>
          </a:xfrm>
          <a:prstGeom prst="roundRect">
            <a:avLst>
              <a:gd name="adj" fmla="val 5482"/>
            </a:avLst>
          </a:prstGeom>
          <a:solidFill>
            <a:srgbClr val="20252B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11823" y="2888945"/>
            <a:ext cx="1394844" cy="25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7EA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Подготовка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11823" y="3193636"/>
            <a:ext cx="1520074" cy="23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A9B2B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CPU · letterbox 640</a:t>
            </a:r>
            <a:endParaRPr lang="en-US" sz="1200" dirty="0"/>
          </a:p>
        </p:txBody>
      </p:sp>
      <p:pic>
        <p:nvPicPr>
          <p:cNvPr id="11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39835" y="3067991"/>
            <a:ext cx="304763" cy="15238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246186" y="2494114"/>
            <a:ext cx="1699529" cy="1300134"/>
          </a:xfrm>
          <a:prstGeom prst="roundRect">
            <a:avLst>
              <a:gd name="adj" fmla="val 3907"/>
            </a:avLst>
          </a:prstGeom>
          <a:solidFill>
            <a:srgbClr val="F2B705"/>
          </a:solidFill>
          <a:ln/>
        </p:spPr>
      </p:sp>
      <p:sp>
        <p:nvSpPr>
          <p:cNvPr id="13" name="Text 9"/>
          <p:cNvSpPr/>
          <p:nvPr/>
        </p:nvSpPr>
        <p:spPr>
          <a:xfrm>
            <a:off x="5423928" y="2671857"/>
            <a:ext cx="1394844" cy="482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16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YOLO11n, INT8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423928" y="3205083"/>
            <a:ext cx="1394844" cy="43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1B16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LinQ TPU · 87 свёрток</a:t>
            </a:r>
            <a:endParaRPr lang="en-US" sz="1200" dirty="0"/>
          </a:p>
        </p:txBody>
      </p:sp>
      <p:pic>
        <p:nvPicPr>
          <p:cNvPr id="15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47302" y="3067991"/>
            <a:ext cx="304763" cy="15238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456829" y="2709740"/>
            <a:ext cx="1702454" cy="868811"/>
          </a:xfrm>
          <a:prstGeom prst="roundRect">
            <a:avLst>
              <a:gd name="adj" fmla="val 5482"/>
            </a:avLst>
          </a:prstGeom>
          <a:solidFill>
            <a:srgbClr val="20252B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636033" y="2888945"/>
            <a:ext cx="1394844" cy="25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7EA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Хвост + NMS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636033" y="3193636"/>
            <a:ext cx="1394844" cy="231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A9B2B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CPU · DFL, боксы</a:t>
            </a:r>
            <a:endParaRPr lang="en-US" sz="1200" dirty="0"/>
          </a:p>
        </p:txBody>
      </p:sp>
      <p:pic>
        <p:nvPicPr>
          <p:cNvPr id="19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64045" y="3067991"/>
            <a:ext cx="304763" cy="15238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9673570" y="2606920"/>
            <a:ext cx="1702454" cy="1074523"/>
          </a:xfrm>
          <a:prstGeom prst="roundRect">
            <a:avLst>
              <a:gd name="adj" fmla="val 4432"/>
            </a:avLst>
          </a:prstGeom>
          <a:solidFill>
            <a:srgbClr val="20252B"/>
          </a:solidFill>
          <a:ln w="6350">
            <a:solidFill>
              <a:srgbClr val="2D333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9852775" y="2786125"/>
            <a:ext cx="1394844" cy="25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7EA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Логика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852775" y="3090816"/>
            <a:ext cx="1394844" cy="436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A9B2B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CPU · трекинг, правила, клипы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12774" y="4206949"/>
            <a:ext cx="3420506" cy="0"/>
          </a:xfrm>
          <a:prstGeom prst="line">
            <a:avLst/>
          </a:prstGeom>
          <a:noFill/>
          <a:ln w="12700">
            <a:solidFill>
              <a:srgbClr val="F2B705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12774" y="4362256"/>
            <a:ext cx="3523121" cy="41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4F6F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до 24 TOPS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812774" y="4804184"/>
            <a:ext cx="3523121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9B2B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INT8 на один чип LinQ H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85661" y="4206949"/>
            <a:ext cx="3420578" cy="0"/>
          </a:xfrm>
          <a:prstGeom prst="line">
            <a:avLst/>
          </a:prstGeom>
          <a:noFill/>
          <a:ln w="12700">
            <a:solidFill>
              <a:srgbClr val="F2B705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385661" y="4362256"/>
            <a:ext cx="3523195" cy="41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4F6F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PCIe x8 Gen3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4385661" y="4804184"/>
            <a:ext cx="3523195" cy="256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9B2B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задержка от 2,3 мс по данным LinQ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7958621" y="4206949"/>
            <a:ext cx="3420578" cy="0"/>
          </a:xfrm>
          <a:prstGeom prst="line">
            <a:avLst/>
          </a:prstGeom>
          <a:noFill/>
          <a:ln w="12700">
            <a:solidFill>
              <a:srgbClr val="F2B705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958621" y="4362256"/>
            <a:ext cx="3523195" cy="41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4F6F8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ONNX</a:t>
            </a:r>
            <a:endParaRPr lang="en-US" sz="2200" dirty="0"/>
          </a:p>
        </p:txBody>
      </p:sp>
      <p:sp>
        <p:nvSpPr>
          <p:cNvPr id="31" name="Text 25"/>
          <p:cNvSpPr/>
          <p:nvPr/>
        </p:nvSpPr>
        <p:spPr>
          <a:xfrm>
            <a:off x="7958621" y="4804184"/>
            <a:ext cx="3523195" cy="48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9B2B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модель переносится из PyTorch без переписывания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4" y="812775"/>
            <a:ext cx="10883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A540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ЧТО РАСПОЗНАЁМ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74" y="1127683"/>
            <a:ext cx="10883418" cy="505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dirty="0">
                <a:solidFill>
                  <a:srgbClr val="171A1E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Двенадцать сценариев в прототипе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049" y="1921763"/>
          <a:ext cx="6975714" cy="3442608"/>
        </p:xfrm>
        <a:graphic>
          <a:graphicData uri="http://schemas.openxmlformats.org/drawingml/2006/table">
            <a:tbl>
              <a:tblPr/>
              <a:tblGrid>
                <a:gridCol w="3627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5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251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Нарушение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Участок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Уровень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51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Перчатки у вращающихся частей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Токарный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Критично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51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Нахождение в опасной зоне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Лазер, стол резки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Критично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51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Падение, неподвижность &gt; 3 с</a:t>
                      </a:r>
                      <a:r>
                        <a:rPr lang="en-US" sz="1400" dirty="0" smtClean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/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Склад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Критично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251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Нет защитных очков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Токарный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Внимание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51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Нет перчаток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Лазер, пульт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Внимание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251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Телефон при работе у станка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ЧПУ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Внимание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251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Бег по цеху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Склад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Внимание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251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Курение вне отведённого места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Склад, рампа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Внимание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02525" y="1912488"/>
            <a:ext cx="3174942" cy="3451880"/>
          </a:xfrm>
          <a:prstGeom prst="roundRect">
            <a:avLst>
              <a:gd name="adj" fmla="val 1600"/>
            </a:avLst>
          </a:prstGeom>
          <a:solidFill>
            <a:srgbClr val="171A1E"/>
          </a:solidFill>
          <a:ln/>
        </p:spPr>
      </p:sp>
      <p:sp>
        <p:nvSpPr>
          <p:cNvPr id="6" name="Text 3"/>
          <p:cNvSpPr/>
          <p:nvPr/>
        </p:nvSpPr>
        <p:spPr>
          <a:xfrm>
            <a:off x="8356494" y="2166457"/>
            <a:ext cx="2747013" cy="299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B70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 ещё четыре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356494" y="2567735"/>
            <a:ext cx="2747013" cy="772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3CA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Открытый огонь — тревога места, даже без людей (CLIP). Сближение с техникой.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356494" y="3441374"/>
            <a:ext cx="2747013" cy="772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3CA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Подъём груза спиной и груз перед лицом (скелет). Ограждение и высота без привязи.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4" y="812775"/>
            <a:ext cx="10883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A540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ПРОТОТИП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74" y="1127683"/>
            <a:ext cx="10883418" cy="505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dirty="0">
                <a:solidFill>
                  <a:srgbClr val="171A1E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Пять экранов поста диспетчера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49" y="1915663"/>
            <a:ext cx="3414156" cy="1488699"/>
          </a:xfrm>
          <a:prstGeom prst="roundRect">
            <a:avLst>
              <a:gd name="adj" fmla="val 3199"/>
            </a:avLst>
          </a:prstGeom>
          <a:solidFill>
            <a:srgbClr val="FBFCFD"/>
          </a:solidFill>
          <a:ln w="6350">
            <a:solidFill>
              <a:srgbClr val="D5DA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5947" y="2145661"/>
            <a:ext cx="3042783" cy="284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71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Мониторинг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45947" y="2480928"/>
            <a:ext cx="3042783" cy="48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ru-RU" sz="1300" dirty="0" smtClean="0">
                <a:solidFill>
                  <a:srgbClr val="4A52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r>
              <a:rPr lang="en-US" sz="1300" dirty="0" smtClean="0">
                <a:solidFill>
                  <a:srgbClr val="4A52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300" dirty="0">
                <a:solidFill>
                  <a:srgbClr val="4A52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потока с рамками и зонами, лента тревог смены, статус камер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8836" y="1915663"/>
            <a:ext cx="3414228" cy="1488699"/>
          </a:xfrm>
          <a:prstGeom prst="roundRect">
            <a:avLst>
              <a:gd name="adj" fmla="val 3199"/>
            </a:avLst>
          </a:prstGeom>
          <a:solidFill>
            <a:srgbClr val="FBFCFD"/>
          </a:solidFill>
          <a:ln w="6350">
            <a:solidFill>
              <a:srgbClr val="D5DA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8835" y="2145661"/>
            <a:ext cx="3042858" cy="284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71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Журнал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18835" y="2480928"/>
            <a:ext cx="3042858" cy="48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Фильтры по типу, камере, статусу и дате; клип 5 с к каждой записи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61796" y="1915663"/>
            <a:ext cx="3414228" cy="1488699"/>
          </a:xfrm>
          <a:prstGeom prst="roundRect">
            <a:avLst>
              <a:gd name="adj" fmla="val 3199"/>
            </a:avLst>
          </a:prstGeom>
          <a:solidFill>
            <a:srgbClr val="FBFCFD"/>
          </a:solidFill>
          <a:ln w="6350">
            <a:solidFill>
              <a:srgbClr val="D5DA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1795" y="2145661"/>
            <a:ext cx="3042858" cy="284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71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Статистика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91795" y="2480928"/>
            <a:ext cx="3042858" cy="71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Показатели смены, разбивка по типам, тепловая карта «участок × час»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949" y="3563094"/>
            <a:ext cx="3414156" cy="1488699"/>
          </a:xfrm>
          <a:prstGeom prst="roundRect">
            <a:avLst>
              <a:gd name="adj" fmla="val 3199"/>
            </a:avLst>
          </a:prstGeom>
          <a:solidFill>
            <a:srgbClr val="FBFCFD"/>
          </a:solidFill>
          <a:ln w="6350">
            <a:solidFill>
              <a:srgbClr val="D5DA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5947" y="3793093"/>
            <a:ext cx="3042783" cy="284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71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Зоны и правила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45947" y="4128359"/>
            <a:ext cx="3042783" cy="71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Полигон рисуется мышью на кадре, сохраняется в config.yaml без перезапуска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88836" y="3563094"/>
            <a:ext cx="3414228" cy="1488699"/>
          </a:xfrm>
          <a:prstGeom prst="roundRect">
            <a:avLst>
              <a:gd name="adj" fmla="val 3199"/>
            </a:avLst>
          </a:prstGeom>
          <a:solidFill>
            <a:srgbClr val="FBFCFD"/>
          </a:solidFill>
          <a:ln w="6350">
            <a:solidFill>
              <a:srgbClr val="D5DA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8835" y="3793093"/>
            <a:ext cx="3042858" cy="284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71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LinQ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18835" y="4128359"/>
            <a:ext cx="3042858" cy="48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Схема конвейера и замеры скорости CPU против ускорителя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58621" y="3559919"/>
            <a:ext cx="3420578" cy="1495049"/>
          </a:xfrm>
          <a:prstGeom prst="roundRect">
            <a:avLst>
              <a:gd name="adj" fmla="val 3398"/>
            </a:avLst>
          </a:prstGeom>
          <a:solidFill>
            <a:srgbClr val="F2B705"/>
          </a:solidFill>
          <a:ln/>
        </p:spPr>
      </p:sp>
      <p:sp>
        <p:nvSpPr>
          <p:cNvPr id="20" name="Text 18"/>
          <p:cNvSpPr/>
          <p:nvPr/>
        </p:nvSpPr>
        <p:spPr>
          <a:xfrm>
            <a:off x="8187157" y="3788454"/>
            <a:ext cx="3052411" cy="284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B16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Три действия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187157" y="4123723"/>
            <a:ext cx="3052411" cy="487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B16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Каждая тревога: «Подтвердить», «Мастеру» или «Ложное»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B7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4" y="812772"/>
            <a:ext cx="10883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1B160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СМЕНА В МАКЕТЕ · ПРИМЕР ДАННЫХ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74" y="1127680"/>
            <a:ext cx="10883418" cy="505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dirty="0">
                <a:solidFill>
                  <a:srgbClr val="1B1600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Что мастер видит в конце смены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774" y="2853603"/>
            <a:ext cx="2451075" cy="0"/>
          </a:xfrm>
          <a:prstGeom prst="line">
            <a:avLst/>
          </a:prstGeom>
          <a:noFill/>
          <a:ln w="25400">
            <a:solidFill>
              <a:srgbClr val="1B1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774" y="3041833"/>
            <a:ext cx="2524607" cy="787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1B160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23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12774" y="3879968"/>
            <a:ext cx="2524607" cy="50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B16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нарушения за смену, −31% к прошлой неделе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17818" y="2853603"/>
            <a:ext cx="2451147" cy="0"/>
          </a:xfrm>
          <a:prstGeom prst="line">
            <a:avLst/>
          </a:prstGeom>
          <a:noFill/>
          <a:ln w="25400">
            <a:solidFill>
              <a:srgbClr val="1B16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17818" y="3041833"/>
            <a:ext cx="2524682" cy="787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1B160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87%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3517818" y="3879968"/>
            <a:ext cx="2524682" cy="50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B16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подтверждено оператором, 20 из 23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22935" y="2853603"/>
            <a:ext cx="2451147" cy="0"/>
          </a:xfrm>
          <a:prstGeom prst="line">
            <a:avLst/>
          </a:prstGeom>
          <a:noFill/>
          <a:ln w="25400">
            <a:solidFill>
              <a:srgbClr val="1B16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22935" y="3041833"/>
            <a:ext cx="2524682" cy="787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1B160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13%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6222935" y="3879968"/>
            <a:ext cx="2524682" cy="50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B16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ложных тревог, 3 из 23; цель — ниже 15%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28051" y="2853603"/>
            <a:ext cx="2451147" cy="0"/>
          </a:xfrm>
          <a:prstGeom prst="line">
            <a:avLst/>
          </a:prstGeom>
          <a:noFill/>
          <a:ln w="25400">
            <a:solidFill>
              <a:srgbClr val="1B16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28051" y="3041833"/>
            <a:ext cx="2524682" cy="787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1B160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1,6 с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8928051" y="3879968"/>
            <a:ext cx="2524682" cy="505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B16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 оповещения, медиана от начала нарушения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774" y="5593119"/>
            <a:ext cx="9156636" cy="274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B16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Пик нарушений — токарный участок в 9–10 ч: начало смены и наладка станков.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4" y="812772"/>
            <a:ext cx="10883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A540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СКОРОСТЬ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74" y="1127680"/>
            <a:ext cx="10883418" cy="985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dirty="0">
                <a:solidFill>
                  <a:srgbClr val="171A1E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CPU замерен; маршрут на LinQ готов — замер на стенде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049" y="2452595"/>
          <a:ext cx="10557151" cy="1227747"/>
        </p:xfrm>
        <a:graphic>
          <a:graphicData uri="http://schemas.openxmlformats.org/drawingml/2006/table">
            <a:tbl>
              <a:tblPr/>
              <a:tblGrid>
                <a:gridCol w="3167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6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2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68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2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225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9249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Бэкенд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Сеть, мс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Кадр, мс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p95, мс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FPS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Камер при 10 к/с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249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ONNX на CPU (i5-12450H)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70,2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78,8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86,3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12,7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249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LinQ TPU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стенд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8C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8C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8C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8C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—</a:t>
                      </a:r>
                      <a:endParaRPr lang="en-US" sz="15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8C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5949" y="4039074"/>
            <a:ext cx="5175275" cy="1541957"/>
          </a:xfrm>
          <a:prstGeom prst="roundRect">
            <a:avLst>
              <a:gd name="adj" fmla="val 3089"/>
            </a:avLst>
          </a:prstGeom>
          <a:solidFill>
            <a:srgbClr val="FBFCFD"/>
          </a:solidFill>
          <a:ln w="6350">
            <a:solidFill>
              <a:srgbClr val="D5DA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45947" y="4269076"/>
            <a:ext cx="4856736" cy="284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71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Почему это важно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45947" y="4604342"/>
            <a:ext cx="4856736" cy="772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2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 CPU ноутбука тянется только одна камера. Перенос сети на LinQ освобождает процессор под трекинг и правила.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00749" y="4039074"/>
            <a:ext cx="5175275" cy="1541957"/>
          </a:xfrm>
          <a:prstGeom prst="roundRect">
            <a:avLst>
              <a:gd name="adj" fmla="val 3089"/>
            </a:avLst>
          </a:prstGeom>
          <a:solidFill>
            <a:srgbClr val="FBFCFD"/>
          </a:solidFill>
          <a:ln w="6350">
            <a:solidFill>
              <a:srgbClr val="D5DA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30748" y="4269076"/>
            <a:ext cx="4856736" cy="284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71A1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 замеряем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30748" y="4604342"/>
            <a:ext cx="4856736" cy="523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52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Скрипт tools/benchmark.py прогоняет одно и то же видео на обоих бэкендах на стенде.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4" y="812775"/>
            <a:ext cx="10883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A540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ИТОГ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74" y="1127683"/>
            <a:ext cx="10883418" cy="505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dirty="0">
                <a:solidFill>
                  <a:srgbClr val="171A1E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Что сдаём 25.10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49" y="1915660"/>
            <a:ext cx="3414156" cy="2248143"/>
          </a:xfrm>
          <a:prstGeom prst="roundRect">
            <a:avLst>
              <a:gd name="adj" fmla="val 2118"/>
            </a:avLst>
          </a:prstGeom>
          <a:solidFill>
            <a:srgbClr val="FBFCFD"/>
          </a:solidFill>
          <a:ln w="6350">
            <a:solidFill>
              <a:srgbClr val="D5DA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5947" y="2145661"/>
            <a:ext cx="3042783" cy="299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755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Готово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1291" y="2546939"/>
            <a:ext cx="2949819" cy="1412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2B31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Десктопное приложение: 6 разделов</a:t>
            </a:r>
            <a:r>
              <a:rPr lang="en-US" sz="1300" dirty="0" err="1">
                <a:solidFill>
                  <a:srgbClr val="2B31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300" dirty="0">
                <a:solidFill>
                  <a:srgbClr val="2B31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ru-RU" sz="1300" dirty="0" smtClean="0">
                <a:solidFill>
                  <a:srgbClr val="2B31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300" dirty="0" smtClean="0">
                <a:solidFill>
                  <a:srgbClr val="2B31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r>
              <a:rPr lang="en-US" sz="1300" dirty="0">
                <a:solidFill>
                  <a:srgbClr val="2B31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/>
            </a:r>
            <a:endParaRPr lang="en-US" sz="1300" dirty="0"/>
          </a:p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2B31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сценариев, одна тревога на нарушение</a:t>
            </a:r>
            <a:endParaRPr lang="en-US" sz="1300" dirty="0"/>
          </a:p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2B31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Клипы по 5 с, журнал, отчёты Claude</a:t>
            </a:r>
            <a:endParaRPr lang="en-US" sz="1300" dirty="0"/>
          </a:p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2B31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Маршрут LinQ: INT8, .tpu, Colab</a:t>
            </a:r>
            <a:endParaRPr lang="en-US" sz="1300" dirty="0"/>
          </a:p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2B31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47 автотестов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8836" y="1915660"/>
            <a:ext cx="3414228" cy="2248143"/>
          </a:xfrm>
          <a:prstGeom prst="roundRect">
            <a:avLst>
              <a:gd name="adj" fmla="val 2118"/>
            </a:avLst>
          </a:prstGeom>
          <a:solidFill>
            <a:srgbClr val="FBFCFD"/>
          </a:solidFill>
          <a:ln w="6350">
            <a:solidFill>
              <a:srgbClr val="D5DA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8835" y="2145661"/>
            <a:ext cx="3042858" cy="299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7A54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Дальше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704179" y="2546939"/>
            <a:ext cx="2949894" cy="1181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2B31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Замер и сверка на стенде LinQ</a:t>
            </a:r>
            <a:endParaRPr lang="en-US" sz="1300" dirty="0"/>
          </a:p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2B31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Видео реальных цехов для дообучения</a:t>
            </a:r>
            <a:endParaRPr lang="en-US" sz="1300" dirty="0"/>
          </a:p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2B313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Жилет и респиратор: добрать данные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8621" y="1912485"/>
            <a:ext cx="3420578" cy="2254493"/>
          </a:xfrm>
          <a:prstGeom prst="roundRect">
            <a:avLst>
              <a:gd name="adj" fmla="val 2253"/>
            </a:avLst>
          </a:prstGeom>
          <a:solidFill>
            <a:srgbClr val="171A1E"/>
          </a:solidFill>
          <a:ln/>
        </p:spPr>
      </p:sp>
      <p:sp>
        <p:nvSpPr>
          <p:cNvPr id="11" name="Text 9"/>
          <p:cNvSpPr/>
          <p:nvPr/>
        </p:nvSpPr>
        <p:spPr>
          <a:xfrm>
            <a:off x="8187157" y="2141023"/>
            <a:ext cx="3052411" cy="299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B70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Материалы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72501" y="2542301"/>
            <a:ext cx="2959447" cy="94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C3CA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github.com/artemagaf/</a:t>
            </a:r>
            <a:endParaRPr lang="en-US" sz="1300" dirty="0"/>
          </a:p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C3CA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safety-monitor-linq</a:t>
            </a:r>
            <a:endParaRPr lang="en-US" sz="1300" dirty="0"/>
          </a:p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C3CA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Тизер — TEASER.md</a:t>
            </a:r>
            <a:endParaRPr lang="en-US" sz="1300" dirty="0"/>
          </a:p>
          <a:p>
            <a:pPr marL="168656" indent="-168656" algn="l">
              <a:lnSpc>
                <a:spcPts val="1820"/>
              </a:lnSpc>
              <a:buSzPct val="100000"/>
              <a:buChar char="•"/>
            </a:pPr>
            <a:r>
              <a:rPr lang="en-US" sz="1300" dirty="0">
                <a:solidFill>
                  <a:srgbClr val="C3CAD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Демо — docs/demo.mp4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1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74" y="812769"/>
            <a:ext cx="108834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7A5400"/>
                </a:solidFill>
                <a:latin typeface="IBM Plex Mono" pitchFamily="49" charset="0"/>
                <a:ea typeface="IBM Plex Mono" pitchFamily="49" charset="-122"/>
                <a:cs typeface="IBM Plex Mono" pitchFamily="49" charset="-120"/>
              </a:rPr>
              <a:t>ОЦЕНКА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74" y="1127677"/>
            <a:ext cx="10883418" cy="505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dirty="0">
                <a:solidFill>
                  <a:srgbClr val="171A1E"/>
                </a:solidFill>
                <a:latin typeface="IBM Plex Sans Condensed" pitchFamily="34" charset="0"/>
                <a:ea typeface="IBM Plex Sans Condensed" pitchFamily="34" charset="-122"/>
                <a:cs typeface="IBM Plex Sans Condensed" pitchFamily="34" charset="-120"/>
              </a:rPr>
              <a:t>Как решение отвечает критериям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049" y="1921760"/>
          <a:ext cx="10557150" cy="2491433"/>
        </p:xfrm>
        <a:graphic>
          <a:graphicData uri="http://schemas.openxmlformats.org/drawingml/2006/table">
            <a:tbl>
              <a:tblPr/>
              <a:tblGrid>
                <a:gridCol w="3167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90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919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Критерий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Чем отвечаем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919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Прототип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Рабочий конвейер детекции и интерфейс диспетчера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2B6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919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Основная проблема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Тревога о нарушении за секунды, инференс на LinQ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919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Разработка и внедрение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Стандартные RTSP-камеры, правила в config.yaml, отечественный ускоритель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919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Новаторские идеи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Одно нарушение — одна тревога; падение и неподвижность; ложные кадры → дообучение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919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Второстепенные проблемы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Обрыв камеры, журнал с клипами, правила по расписанию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919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Аналитика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71A1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Тепловая карта «участок × час», доля ложных тревог, сравнение CPU и LinQ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Пост контроля ОТ — чекпоинт 3">
  <a:themeElements>
    <a:clrScheme name="Пост контроля ОТ — чекпоинт 3">
      <a:dk1>
        <a:srgbClr val="171A1E"/>
      </a:dk1>
      <a:lt1>
        <a:srgbClr val="EEF1F4"/>
      </a:lt1>
      <a:dk2>
        <a:srgbClr val="4D5054"/>
      </a:dk2>
      <a:lt2>
        <a:srgbClr val="D9DCDF"/>
      </a:lt2>
      <a:accent1>
        <a:srgbClr val="F2B705"/>
      </a:accent1>
      <a:accent2>
        <a:srgbClr val="7A5400"/>
      </a:accent2>
      <a:accent3>
        <a:srgbClr val="1A7550"/>
      </a:accent3>
      <a:accent4>
        <a:srgbClr val="1B1600"/>
      </a:accent4>
      <a:accent5>
        <a:srgbClr val="4A525C"/>
      </a:accent5>
      <a:accent6>
        <a:srgbClr val="5F6873"/>
      </a:accent6>
      <a:hlink>
        <a:srgbClr val="0563C1"/>
      </a:hlink>
      <a:folHlink>
        <a:srgbClr val="954F72"/>
      </a:folHlink>
    </a:clrScheme>
    <a:fontScheme name="Пост контроля ОТ — чекпоинт 3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1122</Words>
  <Application>Microsoft Office PowerPoint</Application>
  <PresentationFormat>Широкоэкранный</PresentationFormat>
  <Paragraphs>182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IBM Plex Mono</vt:lpstr>
      <vt:lpstr>IBM Plex Sans</vt:lpstr>
      <vt:lpstr>IBM Plex Sans Condensed</vt:lpstr>
      <vt:lpstr>Пост контроля ОТ — чекпоинт 3</vt:lpstr>
      <vt:lpstr>Пост контроля ОТ</vt:lpstr>
      <vt:lpstr>Камеры в цехе есть, но нарушение замечают уже после инцидента</vt:lpstr>
      <vt:lpstr>От кадра до тревоги мастеру — около 1,6 секунды</vt:lpstr>
      <vt:lpstr>Нейросеть целиком работает на ускорителе LinQ</vt:lpstr>
      <vt:lpstr>Восемь типов нарушений в прототипе</vt:lpstr>
      <vt:lpstr>Пять экранов поста диспетчера</vt:lpstr>
      <vt:lpstr>Что мастер видит в конце смены</vt:lpstr>
      <vt:lpstr>CPU уже замерен, замер на LinQ — следующий шаг</vt:lpstr>
      <vt:lpstr>Статус к чекпоинту 3</vt:lpstr>
      <vt:lpstr>Как решение отвечает критериям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Пост контроля ОТ — чекпоинт 3</dc:title>
  <dc:subject/>
  <dc:creator>Артём Агафонов</dc:creator>
  <cp:lastModifiedBy>Артём Агафонов</cp:lastModifiedBy>
  <cp:revision>7</cp:revision>
  <dcterms:created xsi:type="dcterms:W3CDTF">2026-10-24T13:47:51Z</dcterms:created>
  <dcterms:modified xsi:type="dcterms:W3CDTF">2026-10-24T16:27:10Z</dcterms:modified>
</cp:coreProperties>
</file>